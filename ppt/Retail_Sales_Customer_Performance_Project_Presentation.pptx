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BF4A07-A354-40D8-B52E-6D658CDC7E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334DEEF-EA6D-45F8-923A-8AD6DF3789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117863-C579-42A6-AA58-30E578D1C3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2EDA4CF-439B-48BB-8595-02F36FA7F3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6CBE264-812B-4513-A038-69B89BEBE1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883DBB6-E197-4583-8B34-0E4A2AE84D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A012B4E-08CE-4CFF-A6AC-0788097577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AEEC398-A9F0-4280-9A1A-DC26935AE1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BE2474-6AD4-4A84-8137-974AE7A087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3749039" cy="6858000"/>
          </a:xfrm>
          <a:prstGeom prst="rect">
            <a:avLst/>
          </a:prstGeom>
          <a:solidFill>
            <a:srgbClr val="42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855694"/>
            <a:ext cx="2926080" cy="9078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RETAIL</a:t>
            </a:r>
            <a:r>
              <a:rPr lang="en-US" sz="2800" b="1">
                <a:solidFill>
                  <a:srgbClr val="FFFFFF"/>
                </a:solidFill>
                <a:latin typeface="Aptos"/>
              </a:rPr>
              <a:t> </a:t>
            </a:r>
            <a:r>
              <a:rPr sz="28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 rot="21600000">
            <a:off x="762896" y="3196659"/>
            <a:ext cx="30175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CE2F2"/>
                </a:solidFill>
                <a:latin typeface="Aptos"/>
              </a:rPr>
              <a:t>PYTHON  •  SQL  • 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325880"/>
            <a:ext cx="7223760" cy="12344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424B6B"/>
                </a:solidFill>
                <a:latin typeface="Aptos"/>
              </a:rPr>
              <a:t>Retail Sales &amp; Customer</a:t>
            </a:r>
          </a:p>
          <a:p>
            <a:pPr algn="l">
              <a:spcAft>
                <a:spcPts val="300"/>
              </a:spcAft>
            </a:pPr>
            <a:r>
              <a:rPr sz="2900" b="1">
                <a:solidFill>
                  <a:srgbClr val="424B6B"/>
                </a:solidFill>
                <a:latin typeface="Aptos"/>
              </a:rPr>
              <a:t>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34640"/>
            <a:ext cx="7040880" cy="29454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824B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520440"/>
            <a:ext cx="6675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730752"/>
            <a:ext cx="6217920" cy="76636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A2C32"/>
                </a:solidFill>
                <a:latin typeface="Aptos"/>
              </a:rPr>
              <a:t>Intern</a:t>
            </a:r>
            <a:r>
              <a:rPr lang="en-US" sz="1400" b="0">
                <a:solidFill>
                  <a:srgbClr val="2A2C32"/>
                </a:solidFill>
                <a:latin typeface="Aptos"/>
              </a:rPr>
              <a:t> Name</a:t>
            </a:r>
            <a:r>
              <a:rPr sz="1400" b="0">
                <a:solidFill>
                  <a:srgbClr val="2A2C32"/>
                </a:solidFill>
                <a:latin typeface="Aptos"/>
              </a:rPr>
              <a:t>: </a:t>
            </a:r>
            <a:r>
              <a:rPr lang="en-US" sz="1400" b="0">
                <a:solidFill>
                  <a:srgbClr val="2A2C32"/>
                </a:solidFill>
                <a:latin typeface="Aptos"/>
              </a:rPr>
              <a:t>Rohit Rajendra Gaikwad</a:t>
            </a:r>
            <a:endParaRPr sz="1400" b="0">
              <a:solidFill>
                <a:srgbClr val="2A2C32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A2C32"/>
                </a:solidFill>
                <a:latin typeface="Aptos"/>
              </a:rPr>
              <a:t>Internship / Organization: </a:t>
            </a:r>
            <a:r>
              <a:rPr lang="en-US" sz="14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StarCentauri Technologies Pvt. Ltd</a:t>
            </a:r>
            <a:r>
              <a:rPr lang="en-US" sz="1400" b="0" i="0" u="none" strike="noStrike">
                <a:solidFill>
                  <a:srgbClr val="000000"/>
                </a:solidFill>
                <a:latin typeface="+mj-lt"/>
                <a:ea typeface="+mj-lt"/>
                <a:cs typeface="+mj-lt"/>
              </a:rPr>
              <a:t>.</a:t>
            </a:r>
            <a:r>
              <a:rPr lang="en-US" sz="1050" b="0" i="0" u="none" strike="noStrike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A2C32"/>
                </a:solidFill>
                <a:latin typeface="Aptos"/>
              </a:rPr>
              <a:t>Date: </a:t>
            </a:r>
            <a:r>
              <a:rPr lang="en-US" sz="1400" b="0">
                <a:solidFill>
                  <a:srgbClr val="2A2C32"/>
                </a:solidFill>
                <a:latin typeface="Aptos"/>
              </a:rPr>
              <a:t>22/10/2026</a:t>
            </a:r>
            <a:endParaRPr sz="1400" b="0">
              <a:solidFill>
                <a:srgbClr val="2A2C3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0" y="5669280"/>
            <a:ext cx="713232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696E7A"/>
                </a:solidFill>
                <a:latin typeface="Aptos"/>
              </a:rPr>
              <a:t>Every sale tells a story.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5391" y="268941"/>
            <a:ext cx="1458256" cy="1458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Business Problem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-646176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49240" cy="461772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09160" cy="356616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Large transaction data makes it difficult to compare performance quickly.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Management needs a clear view of sales, profit, customers, products and regions.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Revenue alone is not enough; profitability and customer behaviour also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61772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709160" cy="1687172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Clean and transform the dataset for reliable analysis.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Explore trends and performance using Python and </a:t>
            </a:r>
            <a:endParaRPr lang="en-US" sz="1500">
              <a:solidFill>
                <a:srgbClr val="2A2C32"/>
              </a:solidFill>
              <a:latin typeface="Aptos"/>
            </a:endParaRP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2A2C32"/>
                </a:solidFill>
                <a:latin typeface="Aptos"/>
              </a:rPr>
              <a:t>    </a:t>
            </a:r>
            <a:r>
              <a:rPr sz="1500">
                <a:solidFill>
                  <a:srgbClr val="2A2C32"/>
                </a:solidFill>
                <a:latin typeface="Aptos"/>
              </a:rPr>
              <a:t>SQL.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Define clear KPIs for business monitoring.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2C32"/>
                </a:solidFill>
                <a:latin typeface="Aptos"/>
              </a:rPr>
              <a:t>•  Build an interactive three-page Power BI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540752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800" b="0">
              <a:solidFill>
                <a:srgbClr val="696E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-45720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54864" cy="777239"/>
          </a:xfrm>
          <a:prstGeom prst="rect">
            <a:avLst/>
          </a:prstGeom>
          <a:solidFill>
            <a:srgbClr val="35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45336"/>
            <a:ext cx="22585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TRANSACTION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2585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51,290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554480"/>
            <a:ext cx="54864" cy="777239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545336"/>
            <a:ext cx="22585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TRANSFORMED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2585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54480"/>
            <a:ext cx="54864" cy="777239"/>
          </a:xfrm>
          <a:prstGeom prst="rect">
            <a:avLst/>
          </a:prstGeom>
          <a:solidFill>
            <a:srgbClr val="20A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45336"/>
            <a:ext cx="22585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DISTINCT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10512"/>
            <a:ext cx="22585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25,035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1732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54480"/>
            <a:ext cx="54864" cy="777239"/>
          </a:xfrm>
          <a:prstGeom prst="rect">
            <a:avLst/>
          </a:prstGeom>
          <a:solidFill>
            <a:srgbClr val="35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45336"/>
            <a:ext cx="22585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10512"/>
            <a:ext cx="22585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1,590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34640"/>
            <a:ext cx="5394960" cy="265176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DATA SOURCE &amp;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4663440" cy="1381748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</a:t>
            </a:r>
            <a:r>
              <a:rPr sz="1300" b="1">
                <a:solidFill>
                  <a:srgbClr val="2A2C32"/>
                </a:solidFill>
                <a:latin typeface="Aptos"/>
              </a:rPr>
              <a:t> Source:</a:t>
            </a:r>
            <a:r>
              <a:rPr sz="1300">
                <a:solidFill>
                  <a:srgbClr val="2A2C32"/>
                </a:solidFill>
                <a:latin typeface="Aptos"/>
              </a:rPr>
              <a:t> superstore_dataset2011-2015 CSV files.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Transaction records include orders, customers, products, </a:t>
            </a:r>
            <a:endParaRPr lang="en-US" sz="1300">
              <a:solidFill>
                <a:srgbClr val="2A2C32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A2C32"/>
                </a:solidFill>
                <a:latin typeface="Aptos"/>
              </a:rPr>
              <a:t>    </a:t>
            </a:r>
            <a:r>
              <a:rPr sz="1300">
                <a:solidFill>
                  <a:srgbClr val="2A2C32"/>
                </a:solidFill>
                <a:latin typeface="Aptos"/>
              </a:rPr>
              <a:t>geography and financial measures.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Order dates in the supplied transformed file span 2011–</a:t>
            </a:r>
            <a:endParaRPr lang="en-US" sz="1300">
              <a:solidFill>
                <a:srgbClr val="2A2C32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A2C32"/>
                </a:solidFill>
                <a:latin typeface="Aptos"/>
              </a:rPr>
              <a:t>    </a:t>
            </a:r>
            <a:r>
              <a:rPr sz="1300">
                <a:solidFill>
                  <a:srgbClr val="2A2C32"/>
                </a:solidFill>
                <a:latin typeface="Aptos"/>
              </a:rPr>
              <a:t>2014.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834640"/>
            <a:ext cx="53035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108960"/>
            <a:ext cx="46634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KEY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11880"/>
            <a:ext cx="4572000" cy="155448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Sales, Profit, Quantity, Discount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Order ID, Order Date, Customer ID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Product ID, Category, Sub-Category, Region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1" y="7443215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96E7A"/>
                </a:solidFill>
                <a:latin typeface="Aptos"/>
              </a:rPr>
              <a:t>Cleaning output: 51,290 rows × 23 columns. Transformation output: 51,290 rows × 35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Data Cleaning &amp; Exploratory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-448056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657600" cy="457200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063240" cy="352044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Inspected shape, columns, data types and missing values.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Checked duplicate rows.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Removed Postal Code because of extensive missingness.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Converted order and ship dates to datetime.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Validated numeric fields and saved the cleaned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7231380" cy="5138928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45920"/>
            <a:ext cx="64008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EDA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11680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2C32"/>
                </a:solidFill>
                <a:latin typeface="Aptos"/>
              </a:rPr>
              <a:t>Monthly sales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8460" y="2011680"/>
            <a:ext cx="4747260" cy="38442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chemeClr val="tx1"/>
                </a:solidFill>
                <a:latin typeface="Aptos"/>
              </a:rPr>
              <a:t>Line chart · Identifies sales fluctuations across months and helps reveal high- and low-performing periods.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4780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2C32"/>
                </a:solidFill>
                <a:latin typeface="Aptos"/>
              </a:rPr>
              <a:t>Sales by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8460" y="2575526"/>
            <a:ext cx="4747260" cy="38442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chemeClr val="tx1"/>
                </a:solidFill>
                <a:latin typeface="Aptos"/>
              </a:rPr>
              <a:t>Bar chart</a:t>
            </a:r>
            <a:r>
              <a:rPr lang="en-US" sz="1100" b="0">
                <a:solidFill>
                  <a:schemeClr val="tx1"/>
                </a:solidFill>
                <a:latin typeface="Aptos"/>
              </a:rPr>
              <a:t>- Compares Technology, Furniture and Office Supplies by sales and profit.</a:t>
            </a:r>
            <a:endParaRPr sz="11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2040" y="3041870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2C32"/>
                </a:solidFill>
                <a:latin typeface="Aptos"/>
              </a:rPr>
              <a:t>Sales by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8460" y="3123975"/>
            <a:ext cx="4838701" cy="38442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chemeClr val="tx1"/>
                </a:solidFill>
                <a:latin typeface="Aptos"/>
              </a:rPr>
              <a:t>Horizontal bar chart · Highlights regions contributing the most and least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634739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2C32"/>
                </a:solidFill>
                <a:latin typeface="Aptos"/>
              </a:rPr>
              <a:t>Top / bottom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8460" y="3657599"/>
            <a:ext cx="4747260" cy="21678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chemeClr val="tx1"/>
                </a:solidFill>
                <a:latin typeface="Aptos"/>
              </a:rPr>
              <a:t>Ranked bar charts · Identifies top-selling products, low-selling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2848" y="399097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2C32"/>
                </a:solidFill>
                <a:latin typeface="Aptos"/>
              </a:rPr>
              <a:t>Profit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8460" y="3990974"/>
            <a:ext cx="4069080" cy="21678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chemeClr val="tx1"/>
                </a:solidFill>
                <a:latin typeface="Aptos"/>
              </a:rPr>
              <a:t>Category and region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20058"/>
            <a:ext cx="630936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A486"/>
                </a:solidFill>
                <a:latin typeface="Aptos"/>
              </a:rPr>
              <a:t>Duplicate rows in the transformed file: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1" y="7918704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800" b="0">
              <a:solidFill>
                <a:srgbClr val="696E7A"/>
              </a:solidFill>
              <a:latin typeface="Aptos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892040" y="4405658"/>
          <a:ext cx="653796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8987"/>
                <a:gridCol w="3268973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ptos"/>
                          <a:ea typeface="Aptos"/>
                          <a:cs typeface="Aptos"/>
                        </a:rPr>
                        <a:t>Before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ptos"/>
                          <a:ea typeface="Aptos"/>
                          <a:cs typeface="Aptos"/>
                        </a:rPr>
                        <a:t>After cleaning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Missing values inspected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Postal Code removed due to extensive missingness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Date formats 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Order and Ship Date converted to datetime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Duplicate rows 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Duplicate rows checked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Data types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  <a:ea typeface="Aptos"/>
                          <a:cs typeface="Aptos"/>
                        </a:rPr>
                        <a:t>Numeric columns validated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KPIs &amp; Analytical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-5943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54864" cy="621792"/>
          </a:xfrm>
          <a:prstGeom prst="rect">
            <a:avLst/>
          </a:prstGeom>
          <a:solidFill>
            <a:srgbClr val="35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9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$12.64M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54864" cy="621792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99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TOTAL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64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$1.47M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508760"/>
            <a:ext cx="54864" cy="621792"/>
          </a:xfrm>
          <a:prstGeom prst="rect">
            <a:avLst/>
          </a:prstGeom>
          <a:solidFill>
            <a:srgbClr val="20A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99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TOTAL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64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25K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14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651760"/>
            <a:ext cx="54864" cy="621792"/>
          </a:xfrm>
          <a:prstGeom prst="rect">
            <a:avLst/>
          </a:prstGeom>
          <a:solidFill>
            <a:srgbClr val="35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42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TOTAL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907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1.59K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514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651760"/>
            <a:ext cx="54864" cy="621792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642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AVERAGE ORDER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07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$504.99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514600"/>
            <a:ext cx="352044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2651760"/>
            <a:ext cx="54864" cy="621792"/>
          </a:xfrm>
          <a:prstGeom prst="rect">
            <a:avLst/>
          </a:prstGeom>
          <a:solidFill>
            <a:srgbClr val="20A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642616"/>
            <a:ext cx="3172968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96E7A"/>
                </a:solidFill>
                <a:latin typeface="Aptos"/>
              </a:rPr>
              <a:t>PROFIT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907792"/>
            <a:ext cx="3172968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424B6B"/>
                </a:solidFill>
                <a:latin typeface="Aptos"/>
              </a:rPr>
              <a:t>11.61%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86200"/>
            <a:ext cx="5349240" cy="192024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16052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24B6B"/>
                </a:solidFill>
                <a:latin typeface="Aptos"/>
              </a:rPr>
              <a:t>CORE MEASURES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4709160" cy="100584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AOV = Revenue ÷ Distinct Orders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Profit Margin = Profit ÷ Revenue ×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886200"/>
            <a:ext cx="5303520" cy="192024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46634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24B6B"/>
                </a:solidFill>
                <a:latin typeface="Aptos"/>
              </a:rPr>
              <a:t>IMPORTANT VISUALS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572000"/>
            <a:ext cx="4572000" cy="100584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Monthly revenue and profit trends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Category and region comparisons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A2C32"/>
                </a:solidFill>
                <a:latin typeface="Aptos"/>
              </a:rPr>
              <a:t>•  Top products and customer rankings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7223759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800" b="0">
              <a:solidFill>
                <a:srgbClr val="696E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Power BI Dashboard &amp; Key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-448056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5478197" y="2907792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5571308" y="3278124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(20261021-172803)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35040" y="974979"/>
            <a:ext cx="4810747" cy="27484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-6627223" y="43891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(20261021-172831)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69972" y="3886200"/>
            <a:ext cx="4960647" cy="2788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7370064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800" b="0">
              <a:solidFill>
                <a:srgbClr val="696E7A"/>
              </a:solidFill>
              <a:latin typeface="Aptos"/>
            </a:endParaRPr>
          </a:p>
        </p:txBody>
      </p:sp>
      <p:pic>
        <p:nvPicPr>
          <p:cNvPr id="25" name="Picture 6" descr="image(20261021-172738)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7932" y="974979"/>
            <a:ext cx="4899080" cy="27484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530352" y="1143000"/>
            <a:ext cx="10641331" cy="4572000"/>
            <a:chOff x="5943600" y="1371600"/>
            <a:chExt cx="5669280" cy="4572000"/>
          </a:xfrm>
        </p:grpSpPr>
        <p:sp>
          <p:nvSpPr>
            <p:cNvPr id="3" name="Rounded Rectangle 11"/>
            <p:cNvSpPr/>
            <p:nvPr/>
          </p:nvSpPr>
          <p:spPr>
            <a:xfrm>
              <a:off x="5943600" y="1371600"/>
              <a:ext cx="5669280" cy="4572000"/>
            </a:xfrm>
            <a:prstGeom prst="roundRect">
              <a:avLst/>
            </a:prstGeom>
            <a:solidFill>
              <a:srgbClr val="F3F2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12"/>
            <p:cNvSpPr txBox="1"/>
            <p:nvPr/>
          </p:nvSpPr>
          <p:spPr>
            <a:xfrm>
              <a:off x="6217920" y="1600200"/>
              <a:ext cx="5120641" cy="320040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500" b="1">
                  <a:solidFill>
                    <a:srgbClr val="424B6B"/>
                  </a:solidFill>
                  <a:latin typeface="Aptos"/>
                </a:rPr>
                <a:t>10 MAJOR FINDINGS</a:t>
              </a:r>
            </a:p>
          </p:txBody>
        </p:sp>
        <p:sp>
          <p:nvSpPr>
            <p:cNvPr id="5" name="TextBox 13"/>
            <p:cNvSpPr txBox="1"/>
            <p:nvPr/>
          </p:nvSpPr>
          <p:spPr>
            <a:xfrm>
              <a:off x="6263641" y="2011680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1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Total sales: $12.64M.</a:t>
              </a:r>
            </a:p>
          </p:txBody>
        </p:sp>
        <p:sp>
          <p:nvSpPr>
            <p:cNvPr id="6" name="TextBox 14"/>
            <p:cNvSpPr txBox="1"/>
            <p:nvPr/>
          </p:nvSpPr>
          <p:spPr>
            <a:xfrm>
              <a:off x="6263641" y="2368296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2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Total profit: $1.47M.</a:t>
              </a:r>
            </a:p>
          </p:txBody>
        </p:sp>
        <p:sp>
          <p:nvSpPr>
            <p:cNvPr id="7" name="TextBox 15"/>
            <p:cNvSpPr txBox="1"/>
            <p:nvPr/>
          </p:nvSpPr>
          <p:spPr>
            <a:xfrm>
              <a:off x="6263641" y="2724912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3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Overall profit margin: 11.61%.</a:t>
              </a:r>
            </a:p>
          </p:txBody>
        </p:sp>
        <p:sp>
          <p:nvSpPr>
            <p:cNvPr id="8" name="TextBox 16"/>
            <p:cNvSpPr txBox="1"/>
            <p:nvPr/>
          </p:nvSpPr>
          <p:spPr>
            <a:xfrm>
              <a:off x="6263641" y="3081528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4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25,035 distinct orders were recorded.</a:t>
              </a:r>
            </a:p>
          </p:txBody>
        </p:sp>
        <p:sp>
          <p:nvSpPr>
            <p:cNvPr id="9" name="TextBox 17"/>
            <p:cNvSpPr txBox="1"/>
            <p:nvPr/>
          </p:nvSpPr>
          <p:spPr>
            <a:xfrm>
              <a:off x="6263641" y="3438144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5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1,590 distinct customers were identified.</a:t>
              </a:r>
            </a:p>
          </p:txBody>
        </p:sp>
        <p:sp>
          <p:nvSpPr>
            <p:cNvPr id="10" name="TextBox 18"/>
            <p:cNvSpPr txBox="1"/>
            <p:nvPr/>
          </p:nvSpPr>
          <p:spPr>
            <a:xfrm>
              <a:off x="6263641" y="3794760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6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Technology had the highest category revenue.</a:t>
              </a:r>
            </a:p>
          </p:txBody>
        </p:sp>
        <p:sp>
          <p:nvSpPr>
            <p:cNvPr id="11" name="TextBox 19"/>
            <p:cNvSpPr txBox="1"/>
            <p:nvPr/>
          </p:nvSpPr>
          <p:spPr>
            <a:xfrm>
              <a:off x="6263641" y="4151376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7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Technology generated the highest category profit.</a:t>
              </a:r>
            </a:p>
          </p:txBody>
        </p:sp>
        <p:sp>
          <p:nvSpPr>
            <p:cNvPr id="12" name="TextBox 20"/>
            <p:cNvSpPr txBox="1"/>
            <p:nvPr/>
          </p:nvSpPr>
          <p:spPr>
            <a:xfrm>
              <a:off x="6263641" y="4507992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8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Office Supplies had a higher margin than Furniture.</a:t>
              </a: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6263641" y="4864608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9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Central was the leading region by sales.</a:t>
              </a:r>
            </a:p>
          </p:txBody>
        </p:sp>
        <p:sp>
          <p:nvSpPr>
            <p:cNvPr id="14" name="TextBox 22"/>
            <p:cNvSpPr txBox="1"/>
            <p:nvPr/>
          </p:nvSpPr>
          <p:spPr>
            <a:xfrm>
              <a:off x="6263641" y="5221224"/>
              <a:ext cx="5074920" cy="232341"/>
            </a:xfrm>
            <a:prstGeom prst="rect">
              <a:avLst/>
            </a:prstGeom>
            <a:noFill/>
          </p:spPr>
          <p:txBody>
            <a:bodyPr wrap="square" lIns="45720" tIns="27432" rIns="45720" bIns="18288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00" b="0">
                  <a:solidFill>
                    <a:srgbClr val="2A2C32"/>
                  </a:solidFill>
                  <a:latin typeface="Aptos"/>
                </a:rPr>
                <a:t>10</a:t>
              </a:r>
              <a:r>
                <a:rPr lang="en-US" sz="1200" b="0">
                  <a:solidFill>
                    <a:srgbClr val="2A2C32"/>
                  </a:solidFill>
                  <a:latin typeface="Aptos"/>
                </a:rPr>
                <a:t>.</a:t>
              </a:r>
              <a:r>
                <a:rPr sz="1200" b="0">
                  <a:solidFill>
                    <a:srgbClr val="2A2C32"/>
                  </a:solidFill>
                  <a:latin typeface="Aptos"/>
                </a:rPr>
                <a:t>  Apple Smart Phone, Full Size was the top product by sales.</a:t>
              </a:r>
            </a:p>
          </p:txBody>
        </p:sp>
      </p:grpSp>
      <p:pic>
        <p:nvPicPr>
          <p:cNvPr id="15" name="Picture 6" descr="image(20261021-172738)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9715688" y="-371776"/>
            <a:ext cx="8896727" cy="5739304"/>
          </a:xfrm>
          <a:prstGeom prst="rect">
            <a:avLst/>
          </a:prstGeom>
        </p:spPr>
      </p:pic>
      <p:sp>
        <p:nvSpPr>
          <p:cNvPr id="16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05567"/>
            <a:ext cx="10525125" cy="480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500" b="1">
                <a:solidFill>
                  <a:srgbClr val="424B6B"/>
                </a:solidFill>
                <a:latin typeface="Aptos"/>
              </a:rPr>
              <a:t>Power BI Dashboard &amp; Key Insights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-390525"/>
            <a:ext cx="10972800" cy="21678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57800" cy="128016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4B6B"/>
                </a:solidFill>
                <a:latin typeface="Aptos"/>
              </a:rPr>
              <a:t>MISSING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C32"/>
                </a:solidFill>
                <a:latin typeface="Aptos"/>
              </a:rPr>
              <a:t>Problem: Postal Code had extensive missing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39696"/>
            <a:ext cx="4846320" cy="41522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96E7A"/>
                </a:solidFill>
                <a:latin typeface="Aptos"/>
              </a:rPr>
              <a:t>Solution: Removed the field because it was not required for core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28016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4B6B"/>
                </a:solidFill>
                <a:latin typeface="Aptos"/>
              </a:rPr>
              <a:t>SQL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53797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C32"/>
                </a:solidFill>
                <a:latin typeface="Aptos"/>
              </a:rPr>
              <a:t>Problem: Local file loading was blocked by settings.</a:t>
            </a:r>
            <a:r>
              <a:rPr lang="en-US" sz="1200" b="0">
                <a:solidFill>
                  <a:srgbClr val="2A2C32"/>
                </a:solidFill>
                <a:latin typeface="Aptos"/>
              </a:rPr>
              <a:t>(OPT_LOCAL_INFILE=1)</a:t>
            </a:r>
            <a:endParaRPr sz="1200" b="0">
              <a:solidFill>
                <a:srgbClr val="2A2C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139696"/>
            <a:ext cx="4892040" cy="41522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96E7A"/>
                </a:solidFill>
                <a:latin typeface="Aptos"/>
              </a:rPr>
              <a:t>Solution: Imported the CSV using Python into</a:t>
            </a:r>
            <a:r>
              <a:rPr lang="en-US" sz="1200" b="0">
                <a:solidFill>
                  <a:srgbClr val="696E7A"/>
                </a:solidFill>
                <a:latin typeface="Aptos"/>
              </a:rPr>
              <a:t> </a:t>
            </a:r>
            <a:r>
              <a:rPr sz="1200" b="0">
                <a:solidFill>
                  <a:srgbClr val="696E7A"/>
                </a:solidFill>
                <a:latin typeface="Aptos"/>
              </a:rPr>
              <a:t>retail_analysis.retail_sales_import.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5257800" cy="128016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990088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4B6B"/>
                </a:solidFill>
                <a:latin typeface="Aptos"/>
              </a:rPr>
              <a:t>POWER BI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73552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C32"/>
                </a:solidFill>
                <a:latin typeface="Aptos"/>
              </a:rPr>
              <a:t>Problem: Duplicate IDs blocked dimension relationships.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648456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96E7A"/>
                </a:solidFill>
                <a:latin typeface="Aptos"/>
              </a:rPr>
              <a:t>Solution: Checked dimension keys and relationship cardinality.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128016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90088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4B6B"/>
                </a:solidFill>
                <a:latin typeface="Aptos"/>
              </a:rPr>
              <a:t>DAX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C32"/>
                </a:solidFill>
                <a:latin typeface="Aptos"/>
              </a:rPr>
              <a:t>Problem: Customer ranks returned repeated or blank values.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48456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96E7A"/>
                </a:solidFill>
                <a:latin typeface="Aptos"/>
              </a:rPr>
              <a:t>Solution: Tested measure context and customer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434840"/>
            <a:ext cx="5257800" cy="128016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544568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4B6B"/>
                </a:solidFill>
                <a:latin typeface="Aptos"/>
              </a:rPr>
              <a:t>DASHBOARD READABILITY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828031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C32"/>
                </a:solidFill>
                <a:latin typeface="Aptos"/>
              </a:rPr>
              <a:t>Problem: Many charts could overcrowd one page.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202936"/>
            <a:ext cx="4846320" cy="23234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96E7A"/>
                </a:solidFill>
                <a:latin typeface="Aptos"/>
              </a:rPr>
              <a:t>Solution: Separated the report into three focused pages with slicers.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443216"/>
            <a:ext cx="1078992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800" b="0">
              <a:solidFill>
                <a:srgbClr val="696E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424B6B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685800" cy="54864"/>
          </a:xfrm>
          <a:prstGeom prst="rect">
            <a:avLst/>
          </a:prstGeom>
          <a:solidFill>
            <a:srgbClr val="F58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-335661"/>
            <a:ext cx="10972800" cy="21678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endParaRPr sz="1100" b="0">
              <a:solidFill>
                <a:srgbClr val="696E7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96E7A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3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WHAT WAS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617720" cy="315468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A complete analytics workflow: clean, transform, analyse and report.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Use Python for data preparation and exploratory analysis.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Use SQL for repeatable business queries and rankings.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Use Power BI relationships, DAX measures, slicers and navigation.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Validate measures and data relationships before presenting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5262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24B6B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572000" cy="3154680"/>
          </a:xfrm>
          <a:prstGeom prst="rect">
            <a:avLst/>
          </a:prstGeom>
          <a:noFill/>
        </p:spPr>
        <p:txBody>
          <a:bodyPr wrap="square" lIns="54864" t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Automate data refresh and quality checks.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Add monthly sales and profit forecasting.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Analyse customer retention and cohorts.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Create alerts for low-margin or declining products.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2C32"/>
                </a:solidFill>
                <a:latin typeface="Aptos"/>
              </a:rPr>
              <a:t>•  Integrate inventory data and publish securely to Power BI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44768"/>
            <a:ext cx="10789920" cy="29454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5824B"/>
                </a:solidFill>
                <a:latin typeface="Aptos"/>
              </a:rP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Gaikwad</cp:lastModifiedBy>
  <cp:revision>1</cp:revision>
  <dcterms:created xsi:type="dcterms:W3CDTF">2013-01-27T09:14:16Z</dcterms:created>
  <dcterms:modified xsi:type="dcterms:W3CDTF">2026-10-21T20:04:16Z</dcterms:modified>
  <cp:category/>
</cp:coreProperties>
</file>